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5544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800" b="1">
                <a:solidFill>
                  <a:srgbClr val="22D3EE"/>
                </a:solidFill>
                <a:latin typeface="Segoe UI"/>
              </a:rPr>
              <a:t>PMR TERMINAL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24688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D7E1F3"/>
                </a:solidFill>
                <a:latin typeface="Segoe UI"/>
              </a:rPr>
              <a:t>Daily Market Intelligence · by Praveen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30175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7C8DB5"/>
                </a:solidFill>
                <a:latin typeface="Segoe UI"/>
              </a:rPr>
              <a:t>Monday, 24 Aug 2026 07:20 SGT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384048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F59E0B"/>
                </a:solidFill>
                <a:latin typeface="Segoe UI"/>
              </a:rPr>
              <a:t>Market tone: MIXED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44805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D7E1F3"/>
                </a:solidFill>
                <a:latin typeface="Segoe UI"/>
              </a:rPr>
              <a:t>RAG 11R / 20A / 15G   |   69.6% above 200DMA   |   Portfolio Rs 1,905,142 (+10.0%)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093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Educational analytics - not investment advice.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D3EE"/>
                </a:solidFill>
                <a:latin typeface="Segoe UI"/>
              </a:rPr>
              <a:t>MTD Gainers &amp; Losers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217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Top 5 each · 3-month sparkline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515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2C55E"/>
                </a:solidFill>
                <a:latin typeface="Segoe UI"/>
              </a:rPr>
              <a:t>GAINERS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0876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Ethereum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81051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F59E0B"/>
                </a:solidFill>
                <a:latin typeface="Segoe UI"/>
              </a:rPr>
              <a:t>ETH-USD · AMBER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74720" y="155448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2C55E"/>
                </a:solidFill>
                <a:latin typeface="Segoe UI"/>
              </a:rPr>
              <a:t>+31.9%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0" y="1508760"/>
            <a:ext cx="1467262" cy="38404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57200" y="246888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Solana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77063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EF4444"/>
                </a:solidFill>
                <a:latin typeface="Segoe UI"/>
              </a:rPr>
              <a:t>SOL-USD · RED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74720" y="25146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2C55E"/>
                </a:solidFill>
                <a:latin typeface="Segoe UI"/>
              </a:rPr>
              <a:t>+31.2%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3440" y="2468880"/>
            <a:ext cx="1467262" cy="38404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57200" y="342900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Bitcoin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73075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F59E0B"/>
                </a:solidFill>
                <a:latin typeface="Segoe UI"/>
              </a:rPr>
              <a:t>BTC-USD · AMBER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74720" y="347472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2C55E"/>
                </a:solidFill>
                <a:latin typeface="Segoe UI"/>
              </a:rPr>
              <a:t>+23.4%</a:t>
            </a:r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3440" y="3429000"/>
            <a:ext cx="1467262" cy="38404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457200" y="438912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Silver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469087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EF4444"/>
                </a:solidFill>
                <a:latin typeface="Segoe UI"/>
              </a:rPr>
              <a:t>SI=F · RED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74720" y="443484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2C55E"/>
                </a:solidFill>
                <a:latin typeface="Segoe UI"/>
              </a:rPr>
              <a:t>+19.8%</a:t>
            </a:r>
          </a:p>
        </p:txBody>
      </p:sp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63440" y="4389120"/>
            <a:ext cx="1467262" cy="384048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457200" y="534924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Tesla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565099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EF4444"/>
                </a:solidFill>
                <a:latin typeface="Segoe UI"/>
              </a:rPr>
              <a:t>TSLA · RED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74720" y="5394959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2C55E"/>
                </a:solidFill>
                <a:latin typeface="Segoe UI"/>
              </a:rPr>
              <a:t>+16.6%</a:t>
            </a:r>
          </a:p>
        </p:txBody>
      </p:sp>
      <p:pic>
        <p:nvPicPr>
          <p:cNvPr id="24" name="Picture 23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63440" y="5349240"/>
            <a:ext cx="1467262" cy="384048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6400800" y="10515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EF4444"/>
                </a:solidFill>
                <a:latin typeface="Segoe UI"/>
              </a:rPr>
              <a:t>LOSERS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150876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Amazon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181051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F59E0B"/>
                </a:solidFill>
                <a:latin typeface="Segoe UI"/>
              </a:rPr>
              <a:t>AMZN · AMBER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418320" y="155448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EF4444"/>
                </a:solidFill>
                <a:latin typeface="Segoe UI"/>
              </a:rPr>
              <a:t>-4.8%</a:t>
            </a:r>
          </a:p>
        </p:txBody>
      </p:sp>
      <p:pic>
        <p:nvPicPr>
          <p:cNvPr id="29" name="Picture 28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607040" y="1508760"/>
            <a:ext cx="1467262" cy="384048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6400800" y="246888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ITC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277063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EF4444"/>
                </a:solidFill>
                <a:latin typeface="Segoe UI"/>
              </a:rPr>
              <a:t>ITC.NS · RED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418320" y="25146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EF4444"/>
                </a:solidFill>
                <a:latin typeface="Segoe UI"/>
              </a:rPr>
              <a:t>-4.1%</a:t>
            </a:r>
          </a:p>
        </p:txBody>
      </p:sp>
      <p:pic>
        <p:nvPicPr>
          <p:cNvPr id="33" name="Picture 32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607040" y="2468880"/>
            <a:ext cx="1467262" cy="384048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6400800" y="342900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Alphabet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0" y="373075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F59E0B"/>
                </a:solidFill>
                <a:latin typeface="Segoe UI"/>
              </a:rPr>
              <a:t>GOOGL · AMBER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418320" y="347472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EF4444"/>
                </a:solidFill>
                <a:latin typeface="Segoe UI"/>
              </a:rPr>
              <a:t>-3.2%</a:t>
            </a:r>
          </a:p>
        </p:txBody>
      </p:sp>
      <p:pic>
        <p:nvPicPr>
          <p:cNvPr id="37" name="Picture 36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607040" y="3429000"/>
            <a:ext cx="1467262" cy="384048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6400800" y="438912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HDFC Bank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00800" y="469087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EF4444"/>
                </a:solidFill>
                <a:latin typeface="Segoe UI"/>
              </a:rPr>
              <a:t>HDFCBANK.NS · RED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418320" y="443484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EF4444"/>
                </a:solidFill>
                <a:latin typeface="Segoe UI"/>
              </a:rPr>
              <a:t>-2.8%</a:t>
            </a:r>
          </a:p>
        </p:txBody>
      </p:sp>
      <p:pic>
        <p:nvPicPr>
          <p:cNvPr id="41" name="Picture 40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607040" y="4389120"/>
            <a:ext cx="1467262" cy="384048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6400800" y="534924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TCS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00800" y="565099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EF4444"/>
                </a:solidFill>
                <a:latin typeface="Segoe UI"/>
              </a:rPr>
              <a:t>TCS.NS · RED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418320" y="5394959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EF4444"/>
                </a:solidFill>
                <a:latin typeface="Segoe UI"/>
              </a:rPr>
              <a:t>-2.7%</a:t>
            </a:r>
          </a:p>
        </p:txBody>
      </p:sp>
      <p:pic>
        <p:nvPicPr>
          <p:cNvPr id="45" name="Picture 44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607040" y="5349240"/>
            <a:ext cx="1467262" cy="38404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D3EE"/>
                </a:solidFill>
                <a:latin typeface="Segoe UI"/>
              </a:rPr>
              <a:t>Risk 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217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1Y return vs annualized volatility · color = RAG · size = |max drawdown|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11247120" cy="5508365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D3EE"/>
                </a:solidFill>
                <a:latin typeface="Segoe UI"/>
              </a:rPr>
              <a:t>AI Signal Desk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217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Buy/Sell engine - top conviction calls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Microsoft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66160" y="109728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12080" y="109728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83%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1097280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bearish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527048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US Financials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66160" y="1527048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12080" y="1527048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82%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60" y="1527048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bearish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956815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DAX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6160" y="1956815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12080" y="1956815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80%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0" y="1956815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bearish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2386584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US Energy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66160" y="2386584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BUY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12080" y="2386584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93%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2386584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2816352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Bitcoin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66160" y="281635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BUY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2080" y="2816352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71%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60" y="2816352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death cross (50&lt;200) · MACD bullish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324612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Ethereum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66160" y="324612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BUY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12080" y="324612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71%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09360" y="3246120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death cross (50&lt;200) · MACD bullish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3675887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Gold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66160" y="3675887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BUY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212080" y="3675887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70%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9360" y="3675887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death cross (50&lt;200) · MACD bullish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4105656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Hang Seng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66160" y="4105656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BUY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212080" y="4105656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76%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09360" y="4105656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death cross (50&lt;200) · MACD bullish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4535424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Straits Times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66160" y="4535424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BUY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212080" y="4535424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70%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09360" y="4535424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bearish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7200" y="4965192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Crude Oil WTI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66160" y="496519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BUY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212080" y="4965192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67%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09360" y="4965192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death cross (50&lt;200) · MACD bullish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7200" y="5394959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FTSE 100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566160" y="5394959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BUY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80" y="5394959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67%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309360" y="5394959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bearish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57200" y="5824728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Copper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566160" y="5824728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BUY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212080" y="5824728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79%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309360" y="5824728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bearish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D3EE"/>
                </a:solidFill>
                <a:latin typeface="Segoe UI"/>
              </a:rPr>
              <a:t>Portfolio P&amp;L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217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Base currency INR · USD/INR 95.68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Symbol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7744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Qty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9184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Avg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Last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9496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Value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P&amp;L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P&amp;L 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9264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Day 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BTC-USD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7744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0.1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9184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60,000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77,527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9496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741,777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4944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Rs 167,697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0392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+29.2%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9264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GC=F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7744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9184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2,300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9768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4,665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9496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446,376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4944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Rs 226,312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2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+102.8%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9264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AAPL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4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9184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185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8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309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39496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295,986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4944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Rs 118,978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0392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+67.2%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9264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NVDA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37744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29184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450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29768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215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39496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164,355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4944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Rs -180,093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50392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-52.3%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69264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720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INFY.NS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37744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80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29184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1,400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29768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1,121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39496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89,680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4944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Rs -22,320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50392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-19.9%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69264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5720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RELIANCE.NS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37744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50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29184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2,450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29768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1,316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39496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65,800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94944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Rs -56,700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50392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-46.3%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69264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5720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TCS.NS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37744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25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29184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3,600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29768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2,302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39496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57,550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94944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Rs -32,450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50392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-36.1%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69264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5720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HDFCBANK.NS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37744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60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29184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1,520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29768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727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39496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43,617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94944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Rs -47,583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50392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-52.2%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69264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57200" y="64008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22D3EE"/>
                </a:solidFill>
                <a:latin typeface="Segoe UI"/>
              </a:rPr>
              <a:t>Total Rs 1,905,142 | P&amp;L Rs 173,842 (+10.0%) | Sharpe 0.12 | Vol 19.27% | VaR95 -1.88%/day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