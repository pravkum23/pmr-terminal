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55448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22D3EE"/>
                </a:solidFill>
                <a:latin typeface="Segoe UI"/>
              </a:rPr>
              <a:t>PMR TERMINAL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246888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D7E1F3"/>
                </a:solidFill>
                <a:latin typeface="Segoe UI"/>
              </a:rPr>
              <a:t>Daily Market Intelligence · by Praveen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3017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7C8DB5"/>
                </a:solidFill>
                <a:latin typeface="Segoe UI"/>
              </a:rPr>
              <a:t>Friday, 02 Oct 2026 10:02 SGT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840480"/>
            <a:ext cx="5486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Market tone: RISK-OFF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4805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D7E1F3"/>
                </a:solidFill>
                <a:latin typeface="Segoe UI"/>
              </a:rPr>
              <a:t>RAG 17R / 13A / 16G   |   41.3% above 200DMA   |   Portfolio Rs 1,945,824 (+12.2%)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30936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Educational analytics - not investment advice.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MTD Gainers &amp; Losers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Top 5 each · 3-month sparkline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22C55E"/>
                </a:solidFill>
                <a:latin typeface="Segoe UI"/>
              </a:rPr>
              <a:t>GAINERS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Infosys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INFY.NS · 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747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+4.1%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3440" y="1508760"/>
            <a:ext cx="1467262" cy="38404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Crude Oil WTI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CL=F · RED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+2.8%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468880"/>
            <a:ext cx="1467262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NIFTY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^CNXIT · RED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+2.2%</a:t>
            </a:r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3440" y="3429000"/>
            <a:ext cx="1467262" cy="38404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4572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^N225 · AMBER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+2.1%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4389120"/>
            <a:ext cx="1467262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4572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XLE · GREEN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747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22C55E"/>
                </a:solidFill>
                <a:latin typeface="Segoe UI"/>
              </a:rPr>
              <a:t>+2.0%</a:t>
            </a:r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5349240"/>
            <a:ext cx="1467262" cy="38404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6400800" y="105156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LOSERS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150876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Natural Gas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18105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NG=F · RED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418320" y="155448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-3.0%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508760"/>
            <a:ext cx="1467262" cy="38404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6400800" y="246888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Hang Seng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277063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^HSI · RED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251460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07040" y="2468880"/>
            <a:ext cx="1467262" cy="38404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6400800" y="342900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ITC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3730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EF4444"/>
                </a:solidFill>
                <a:latin typeface="Segoe UI"/>
              </a:rPr>
              <a:t>ITC.NS · RED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418320" y="347472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-2.6%</a:t>
            </a:r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07040" y="3429000"/>
            <a:ext cx="1467262" cy="384048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6400800" y="438912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Alphabet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0" y="46908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F59E0B"/>
                </a:solidFill>
                <a:latin typeface="Segoe UI"/>
              </a:rPr>
              <a:t>GOOGL · AMBER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18320" y="4434840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pic>
        <p:nvPicPr>
          <p:cNvPr id="41" name="Picture 40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07040" y="4389120"/>
            <a:ext cx="1467262" cy="38404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6400800" y="5349240"/>
            <a:ext cx="2926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D7E1F3"/>
                </a:solidFill>
                <a:latin typeface="Segoe UI"/>
              </a:rPr>
              <a:t>FTSE 100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565099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2C55E"/>
                </a:solidFill>
                <a:latin typeface="Segoe UI"/>
              </a:rPr>
              <a:t>^FTSE · GREEN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18320" y="5394959"/>
            <a:ext cx="10972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EF4444"/>
                </a:solidFill>
                <a:latin typeface="Segoe UI"/>
              </a:rPr>
              <a:t>-1.7%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607040" y="5349240"/>
            <a:ext cx="1467262" cy="38404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Risk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1Y return vs annualized volatility · color = RAG · size = |max drawdown|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88720"/>
            <a:ext cx="11247120" cy="551349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AI Signal Desk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Buy/Sell engine - top conviction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Technology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566160" y="109728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212080" y="10972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09728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5270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Nvidia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66160" y="15270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152704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2704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956815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Microsoft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6160" y="1956815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12080" y="1956815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1956815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38658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Solana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8658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38658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38658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81635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Bitcoin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66160" y="28163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281635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86%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281635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32461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Nasdaq 100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2461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12080" y="32461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95%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09360" y="3246120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675887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Ethereum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67588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675887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85%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3675887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10565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Apple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566160" y="4105656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2080" y="4105656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83%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105656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453542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US Energy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566160" y="4535424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STRONG BUY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12080" y="4535424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81%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60" y="4535424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4965192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Dollar Index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96519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496519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78%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09360" y="4965192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5394959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Nikkei 225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394959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212080" y="5394959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76%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09360" y="5394959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bullish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582472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D7E1F3"/>
                </a:solidFill>
                <a:latin typeface="Segoe UI"/>
              </a:rPr>
              <a:t>S&amp;P 500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582472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22C55E"/>
                </a:solidFill>
                <a:latin typeface="Segoe UI"/>
              </a:rPr>
              <a:t>BUY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12080" y="5824728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68%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0" y="5824728"/>
            <a:ext cx="5669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7C8DB5"/>
                </a:solidFill>
                <a:latin typeface="Segoe UI"/>
              </a:rPr>
              <a:t>above 200DMA · golden cross (50&gt;200) · MACD bearish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0E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6459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22D3EE"/>
                </a:solidFill>
                <a:latin typeface="Segoe UI"/>
              </a:rPr>
              <a:t>Portfolio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621792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7C8DB5"/>
                </a:solidFill>
                <a:latin typeface="Segoe UI"/>
              </a:rPr>
              <a:t>Base currency INR · USD/INR 95.93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Symbol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377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Qty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918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Avg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Last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9496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Value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P&amp;L 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92640" y="10515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7C8DB5"/>
                </a:solidFill>
                <a:latin typeface="Segoe UI"/>
              </a:rPr>
              <a:t>Day 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BTC-USD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377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0.1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60,000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84,926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9496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814,667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239,104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50392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+41.5%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92640" y="137160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+1.6%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GC=F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2,300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4,178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9496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400,793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9494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180,161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392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+81.7%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0" y="171907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AAPL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77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918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185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9768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330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9496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316,866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9494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Rs 139,401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0392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+78.5%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92640" y="2066543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NVDA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377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918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450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9768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231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9496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177,166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9494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-168,172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0392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-48.7%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92640" y="2414016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INFY.NS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80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918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1,400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1,035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9496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82,800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-29,200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50392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-26.1%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92640" y="276148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5720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RELIANCE.NS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377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2918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2,450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29768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1,168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39496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58,385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9494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-64,115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50392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-52.3%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0" y="3108960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TCS.NS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377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25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2918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3,600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29768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2,075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9496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51,875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9494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-38,125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50392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-42.4%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92640" y="3456432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D7E1F3"/>
                </a:solidFill>
                <a:latin typeface="Segoe UI"/>
              </a:rPr>
              <a:t>HDFCBANK.NS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377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60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32918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1,520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29768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721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39496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D7E1F3"/>
                </a:solidFill>
                <a:latin typeface="Segoe UI"/>
              </a:rPr>
              <a:t>Rs 43,272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9494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Rs -47,928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EF4444"/>
                </a:solidFill>
                <a:latin typeface="Segoe UI"/>
              </a:rPr>
              <a:t>-52.5%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692640" y="3803904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22C55E"/>
                </a:solidFill>
                <a:latin typeface="Segoe UI"/>
              </a:rPr>
              <a:t>+0.0%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7200" y="640080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22D3EE"/>
                </a:solidFill>
                <a:latin typeface="Segoe UI"/>
              </a:rPr>
              <a:t>Total Rs 1,945,824 | P&amp;L Rs 211,126 (+12.2%) | Sharpe 0.09 | Vol 20.39% | VaR95 -1.9%/day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