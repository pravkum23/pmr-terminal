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22D3EE"/>
                </a:solidFill>
                <a:latin typeface="Segoe UI"/>
              </a:rPr>
              <a:t>PMR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7E1F3"/>
                </a:solidFill>
                <a:latin typeface="Segoe UI"/>
              </a:rPr>
              <a:t>Daily Market Intelligence · by Praveen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C8DB5"/>
                </a:solidFill>
                <a:latin typeface="Segoe UI"/>
              </a:rPr>
              <a:t>Friday, 30 Oct 2026 10:26 SGT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840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9E0B"/>
                </a:solidFill>
                <a:latin typeface="Segoe UI"/>
              </a:rPr>
              <a:t>Market tone: MIXED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7E1F3"/>
                </a:solidFill>
                <a:latin typeface="Segoe UI"/>
              </a:rPr>
              <a:t>RAG 10R / 19A / 17G   |   54.3% above 200DMA   |   Portfolio Rs 1,861,632 (+8.0%)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Educational analytics - not investment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Segoe UI"/>
              </a:rPr>
              <a:t>MTD Gainers &amp; Losers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Top 5 each · 3-month sparkline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Segoe UI"/>
              </a:rPr>
              <a:t>GAINERS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TCS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C55E"/>
                </a:solidFill>
                <a:latin typeface="Segoe UI"/>
              </a:rPr>
              <a:t>TCS.NS ·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2C55E"/>
                </a:solidFill>
                <a:latin typeface="Segoe UI"/>
              </a:rPr>
              <a:t>+20.6%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08760"/>
            <a:ext cx="1467262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Crude Oil WTI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06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59E0B"/>
                </a:solidFill>
                <a:latin typeface="Segoe UI"/>
              </a:rPr>
              <a:t>CL=F · AMBER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14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2C55E"/>
                </a:solidFill>
                <a:latin typeface="Segoe UI"/>
              </a:rPr>
              <a:t>+15.2%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468880"/>
            <a:ext cx="1467262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NIFTY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C55E"/>
                </a:solidFill>
                <a:latin typeface="Segoe UI"/>
              </a:rPr>
              <a:t>^CNXIT · 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74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2C55E"/>
                </a:solidFill>
                <a:latin typeface="Segoe UI"/>
              </a:rPr>
              <a:t>+15.0%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429000"/>
            <a:ext cx="1467262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Tesla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90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59E0B"/>
                </a:solidFill>
                <a:latin typeface="Segoe UI"/>
              </a:rPr>
              <a:t>TSLA · AMBER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4348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2C55E"/>
                </a:solidFill>
                <a:latin typeface="Segoe UI"/>
              </a:rPr>
              <a:t>+13.7%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389120"/>
            <a:ext cx="1467262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5349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Infosys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50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59E0B"/>
                </a:solidFill>
                <a:latin typeface="Segoe UI"/>
              </a:rPr>
              <a:t>INFY.NS · 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394959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2C55E"/>
                </a:solidFill>
                <a:latin typeface="Segoe UI"/>
              </a:rPr>
              <a:t>+13.0%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5349240"/>
            <a:ext cx="1467262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Segoe UI"/>
              </a:rPr>
              <a:t>LOSERS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Solana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8105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59E0B"/>
                </a:solidFill>
                <a:latin typeface="Segoe UI"/>
              </a:rPr>
              <a:t>SOL-USD · 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554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F4444"/>
                </a:solidFill>
                <a:latin typeface="Segoe UI"/>
              </a:rPr>
              <a:t>-19.5%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1508760"/>
            <a:ext cx="1467262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Ethereum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7706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59E0B"/>
                </a:solidFill>
                <a:latin typeface="Segoe UI"/>
              </a:rPr>
              <a:t>ETH-USD · AMBER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514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F4444"/>
                </a:solidFill>
                <a:latin typeface="Segoe UI"/>
              </a:rPr>
              <a:t>-17.6%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0" y="2468880"/>
            <a:ext cx="1467262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0080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Alphabet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730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F4444"/>
                </a:solidFill>
                <a:latin typeface="Segoe UI"/>
              </a:rPr>
              <a:t>GOOGL · 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474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F4444"/>
                </a:solidFill>
                <a:latin typeface="Segoe UI"/>
              </a:rPr>
              <a:t>-17.5%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7040" y="3429000"/>
            <a:ext cx="1467262" cy="3840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00800" y="4389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Silver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90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EF4444"/>
                </a:solidFill>
                <a:latin typeface="Segoe UI"/>
              </a:rPr>
              <a:t>SI=F · 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44348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F4444"/>
                </a:solidFill>
                <a:latin typeface="Segoe UI"/>
              </a:rPr>
              <a:t>-14.0%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0" y="4389120"/>
            <a:ext cx="1467262" cy="3840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00800" y="5349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7E1F3"/>
                </a:solidFill>
                <a:latin typeface="Segoe UI"/>
              </a:rPr>
              <a:t>Bitcoin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6509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C55E"/>
                </a:solidFill>
                <a:latin typeface="Segoe UI"/>
              </a:rPr>
              <a:t>BTC-USD · GREEN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394959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EF4444"/>
                </a:solidFill>
                <a:latin typeface="Segoe UI"/>
              </a:rPr>
              <a:t>-7.8%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07040" y="5349240"/>
            <a:ext cx="1467262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Segoe U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1Y return vs annualized volatility · color = RAG · size = |max drawdown|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5134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Segoe UI"/>
              </a:rPr>
              <a:t>AI Signal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Buy/Sell engine - top conviction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Apple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097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STRONG BUY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golden cross (50&gt;200) · MACD bullish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Crude Oil WTI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527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STRONG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527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2704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golden cross (50&gt;200) · MACD bullish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56815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US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56815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STRONG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95681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56815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golden cross (50&gt;200) · MACD bearish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865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NIFTY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865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STRONG BUY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3865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84%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8658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golden cross (50&gt;200) · MACD bearish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163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Bharti Airtel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8163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STRONG 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816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83%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1635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death cross (50&lt;200) · MACD bullish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46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Microsoft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STRONG BUY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246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83%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461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golden cross (50&gt;200) · MACD bearish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7588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Dollar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67588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STRONG BUY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67588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83%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675887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golden cross (50&gt;200) · MACD bearish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056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S&amp;P 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1056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STRONG 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1056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82%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10565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golden cross (50&gt;200) · MACD bullish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354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Copper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5354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STRONG BUY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5354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53542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golden cross (50&gt;200) · MACD bullish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9651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Tesla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965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BUY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965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78%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9651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death cross (50&lt;200) · MACD bullish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39495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US 1-3Y Treasury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39495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BUY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3949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89%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39495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golden cross (50&gt;200) · MACD bullish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247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7E1F3"/>
                </a:solidFill>
                <a:latin typeface="Segoe UI"/>
              </a:rPr>
              <a:t>TCS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58247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C55E"/>
                </a:solidFill>
                <a:latin typeface="Segoe UI"/>
              </a:rPr>
              <a:t>BUY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5824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70%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82472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C8DB5"/>
                </a:solidFill>
                <a:latin typeface="Segoe UI"/>
              </a:rPr>
              <a:t>above 200DMA · death cross (50&lt;200) · MACD bearish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D3EE"/>
                </a:solidFill>
                <a:latin typeface="Segoe UI"/>
              </a:rPr>
              <a:t>Portfolio P&amp;L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7C8DB5"/>
                </a:solidFill>
                <a:latin typeface="Segoe UI"/>
              </a:rPr>
              <a:t>Base currency INR · USD/INR 95.18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8DB5"/>
                </a:solidFill>
                <a:latin typeface="Segoe UI"/>
              </a:rPr>
              <a:t>Symbol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8DB5"/>
                </a:solidFill>
                <a:latin typeface="Segoe UI"/>
              </a:rPr>
              <a:t>Qty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8DB5"/>
                </a:solidFill>
                <a:latin typeface="Segoe UI"/>
              </a:rPr>
              <a:t>Avg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8DB5"/>
                </a:solidFill>
                <a:latin typeface="Segoe UI"/>
              </a:rPr>
              <a:t>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8DB5"/>
                </a:solidFill>
                <a:latin typeface="Segoe UI"/>
              </a:rP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8DB5"/>
                </a:solidFill>
                <a:latin typeface="Segoe UI"/>
              </a:rPr>
              <a:t>P&amp;L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8DB5"/>
                </a:solidFill>
                <a:latin typeface="Segoe UI"/>
              </a:rPr>
              <a:t>P&amp;L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7C8DB5"/>
                </a:solidFill>
                <a:latin typeface="Segoe UI"/>
              </a:rPr>
              <a:t>Day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7E1F3"/>
                </a:solidFill>
                <a:latin typeface="Segoe UI"/>
              </a:rPr>
              <a:t>BTC-USD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60,000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77,077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Rs 733,619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Rs 162,539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+28.5%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-5.2%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7190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7E1F3"/>
                </a:solidFill>
                <a:latin typeface="Segoe UI"/>
              </a:rPr>
              <a:t>GC=F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17190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7190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2,300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17190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4,022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7190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Rs 382,862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7190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Rs 163,948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7190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+74.9%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7190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7E1F3"/>
                </a:solidFill>
                <a:latin typeface="Segoe UI"/>
              </a:rPr>
              <a:t>AAPL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185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349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Rs 332,093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Rs 156,010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+88.6%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24140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7E1F3"/>
                </a:solidFill>
                <a:latin typeface="Segoe UI"/>
              </a:rPr>
              <a:t>NVDA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24140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24140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450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24140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214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24140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Rs 162,689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24140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Rs -179,959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24140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-52.5%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4140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2761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7E1F3"/>
                </a:solidFill>
                <a:latin typeface="Segoe UI"/>
              </a:rPr>
              <a:t>INFY.NS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2761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2761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1,400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2761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1,123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2761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Rs 89,852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2761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Rs -22,148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2761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-19.8%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27614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+0.0%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7E1F3"/>
                </a:solidFill>
                <a:latin typeface="Segoe UI"/>
              </a:rPr>
              <a:t>TCS.NS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7744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3,600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2,460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Rs 61,500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Rs -28,500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-31.7%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+0.0%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7E1F3"/>
                </a:solidFill>
                <a:latin typeface="Segoe UI"/>
              </a:rPr>
              <a:t>RELIANCE.NS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44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9184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2,450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1,158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Rs 57,900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Rs -64,600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-52.7%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3456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+0.0%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3803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7E1F3"/>
                </a:solidFill>
                <a:latin typeface="Segoe UI"/>
              </a:rPr>
              <a:t>HDFCBANK.NS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77440" y="3803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60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91840" y="3803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1,520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7680" y="3803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685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94960" y="3803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7E1F3"/>
                </a:solidFill>
                <a:latin typeface="Segoe UI"/>
              </a:rPr>
              <a:t>Rs 41,118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49440" y="3803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Rs -50,082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03920" y="3803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F4444"/>
                </a:solidFill>
                <a:latin typeface="Segoe UI"/>
              </a:rPr>
              <a:t>-54.9%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92640" y="3803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  <a:latin typeface="Segoe UI"/>
              </a:rPr>
              <a:t>+0.0%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Segoe UI"/>
              </a:rPr>
              <a:t>Total Rs 1,861,632 | P&amp;L Rs 137,207 (+8.0%) | Sharpe 0.45 | Vol 17.03% | VaR95 -1.67%/day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