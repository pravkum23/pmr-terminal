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Relationship Id="rId10" Type="http://schemas.openxmlformats.org/officeDocument/2006/relationships/image" Target="../media/image9.png"/><Relationship Id="rId11" Type="http://schemas.openxmlformats.org/officeDocument/2006/relationships/image" Target="../media/image10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55448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800" b="1">
                <a:solidFill>
                  <a:srgbClr val="22D3EE"/>
                </a:solidFill>
                <a:latin typeface="Segoe UI"/>
              </a:rPr>
              <a:t>PMR TERMINAL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24688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D7E1F3"/>
                </a:solidFill>
                <a:latin typeface="Segoe UI"/>
              </a:rPr>
              <a:t>Daily Market Intelligence · by Praveen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30175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7C8DB5"/>
                </a:solidFill>
                <a:latin typeface="Segoe UI"/>
              </a:rPr>
              <a:t>Monday, 28 Sep 2026 09:26 SGT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3840480"/>
            <a:ext cx="5486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F59E0B"/>
                </a:solidFill>
                <a:latin typeface="Segoe UI"/>
              </a:rPr>
              <a:t>Market tone: MIXED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44805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D7E1F3"/>
                </a:solidFill>
                <a:latin typeface="Segoe UI"/>
              </a:rPr>
              <a:t>RAG 13R / 15A / 18G   |   47.8% above 200DMA   |   Portfolio Rs 1,950,245 (+12.5%)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093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Educational analytics - not investment advice.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64592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22D3EE"/>
                </a:solidFill>
                <a:latin typeface="Segoe UI"/>
              </a:rPr>
              <a:t>MTD Gainers &amp; Losers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2179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Top 5 each · 3-month sparkline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5156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22C55E"/>
                </a:solidFill>
                <a:latin typeface="Segoe UI"/>
              </a:rPr>
              <a:t>GAINERS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0876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Solana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81051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2C55E"/>
                </a:solidFill>
                <a:latin typeface="Segoe UI"/>
              </a:rPr>
              <a:t>SOL-USD · GREEN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474720" y="155448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22C55E"/>
                </a:solidFill>
                <a:latin typeface="Segoe UI"/>
              </a:rPr>
              <a:t>+18.5%</a:t>
            </a:r>
          </a:p>
        </p:txBody>
      </p:sp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3440" y="1508760"/>
            <a:ext cx="1467262" cy="38404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57200" y="246888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Crude Oil WTI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77063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EF4444"/>
                </a:solidFill>
                <a:latin typeface="Segoe UI"/>
              </a:rPr>
              <a:t>CL=F · RED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74720" y="251460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22C55E"/>
                </a:solidFill>
                <a:latin typeface="Segoe UI"/>
              </a:rPr>
              <a:t>+8.6%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63440" y="2468880"/>
            <a:ext cx="1467262" cy="38404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57200" y="342900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Ethereum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373075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2C55E"/>
                </a:solidFill>
                <a:latin typeface="Segoe UI"/>
              </a:rPr>
              <a:t>ETH-USD · GREEN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74720" y="347472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22C55E"/>
                </a:solidFill>
                <a:latin typeface="Segoe UI"/>
              </a:rPr>
              <a:t>+8.4%</a:t>
            </a:r>
          </a:p>
        </p:txBody>
      </p:sp>
      <p:pic>
        <p:nvPicPr>
          <p:cNvPr id="16" name="Picture 15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63440" y="3429000"/>
            <a:ext cx="1467262" cy="384048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457200" y="438912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Apple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469087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2C55E"/>
                </a:solidFill>
                <a:latin typeface="Segoe UI"/>
              </a:rPr>
              <a:t>AAPL · GREEN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74720" y="443484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22C55E"/>
                </a:solidFill>
                <a:latin typeface="Segoe UI"/>
              </a:rPr>
              <a:t>+7.6%</a:t>
            </a:r>
          </a:p>
        </p:txBody>
      </p:sp>
      <p:pic>
        <p:nvPicPr>
          <p:cNvPr id="20" name="Picture 19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63440" y="4389120"/>
            <a:ext cx="1467262" cy="384048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457200" y="534924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Bitcoin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565099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2C55E"/>
                </a:solidFill>
                <a:latin typeface="Segoe UI"/>
              </a:rPr>
              <a:t>BTC-USD · GREEN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474720" y="5394959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22C55E"/>
                </a:solidFill>
                <a:latin typeface="Segoe UI"/>
              </a:rPr>
              <a:t>+7.1%</a:t>
            </a:r>
          </a:p>
        </p:txBody>
      </p:sp>
      <p:pic>
        <p:nvPicPr>
          <p:cNvPr id="24" name="Picture 23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663440" y="5349240"/>
            <a:ext cx="1467262" cy="384048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6400800" y="105156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EF4444"/>
                </a:solidFill>
                <a:latin typeface="Segoe UI"/>
              </a:rPr>
              <a:t>LOSERS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0" y="150876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TCS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0" y="181051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EF4444"/>
                </a:solidFill>
                <a:latin typeface="Segoe UI"/>
              </a:rPr>
              <a:t>TCS.NS · RED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418320" y="155448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EF4444"/>
                </a:solidFill>
                <a:latin typeface="Segoe UI"/>
              </a:rPr>
              <a:t>-13.2%</a:t>
            </a:r>
          </a:p>
        </p:txBody>
      </p:sp>
      <p:pic>
        <p:nvPicPr>
          <p:cNvPr id="29" name="Picture 28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607040" y="1508760"/>
            <a:ext cx="1467262" cy="384048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6400800" y="246888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Infosys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0" y="277063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EF4444"/>
                </a:solidFill>
                <a:latin typeface="Segoe UI"/>
              </a:rPr>
              <a:t>INFY.NS · RED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418320" y="251460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EF4444"/>
                </a:solidFill>
                <a:latin typeface="Segoe UI"/>
              </a:rPr>
              <a:t>-11.8%</a:t>
            </a:r>
          </a:p>
        </p:txBody>
      </p:sp>
      <p:pic>
        <p:nvPicPr>
          <p:cNvPr id="33" name="Picture 32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607040" y="2468880"/>
            <a:ext cx="1467262" cy="384048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6400800" y="342900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NIFTY IT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00800" y="373075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EF4444"/>
                </a:solidFill>
                <a:latin typeface="Segoe UI"/>
              </a:rPr>
              <a:t>^CNXIT · RED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418320" y="347472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EF4444"/>
                </a:solidFill>
                <a:latin typeface="Segoe UI"/>
              </a:rPr>
              <a:t>-9.7%</a:t>
            </a:r>
          </a:p>
        </p:txBody>
      </p:sp>
      <p:pic>
        <p:nvPicPr>
          <p:cNvPr id="37" name="Picture 36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607040" y="3429000"/>
            <a:ext cx="1467262" cy="384048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6400800" y="438912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ICICI Bank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00800" y="469087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F59E0B"/>
                </a:solidFill>
                <a:latin typeface="Segoe UI"/>
              </a:rPr>
              <a:t>ICICIBANK.NS · AMBER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418320" y="443484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EF4444"/>
                </a:solidFill>
                <a:latin typeface="Segoe UI"/>
              </a:rPr>
              <a:t>-8.7%</a:t>
            </a:r>
          </a:p>
        </p:txBody>
      </p:sp>
      <p:pic>
        <p:nvPicPr>
          <p:cNvPr id="41" name="Picture 40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607040" y="4389120"/>
            <a:ext cx="1467262" cy="384048"/>
          </a:xfrm>
          <a:prstGeom prst="rect">
            <a:avLst/>
          </a:prstGeom>
        </p:spPr>
      </p:pic>
      <p:sp>
        <p:nvSpPr>
          <p:cNvPr id="42" name="TextBox 41"/>
          <p:cNvSpPr txBox="1"/>
          <p:nvPr/>
        </p:nvSpPr>
        <p:spPr>
          <a:xfrm>
            <a:off x="6400800" y="534924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Gold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400800" y="565099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EF4444"/>
                </a:solidFill>
                <a:latin typeface="Segoe UI"/>
              </a:rPr>
              <a:t>GC=F · RED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418320" y="5394959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EF4444"/>
                </a:solidFill>
                <a:latin typeface="Segoe UI"/>
              </a:rPr>
              <a:t>-5.0%</a:t>
            </a:r>
          </a:p>
        </p:txBody>
      </p:sp>
      <p:pic>
        <p:nvPicPr>
          <p:cNvPr id="45" name="Picture 44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607040" y="5349240"/>
            <a:ext cx="1467262" cy="384048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64592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22D3EE"/>
                </a:solidFill>
                <a:latin typeface="Segoe UI"/>
              </a:rPr>
              <a:t>Risk 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2179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1Y return vs annualized volatility · color = RAG · size = |max drawdown|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88720"/>
            <a:ext cx="11247120" cy="5513499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64592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22D3EE"/>
                </a:solidFill>
                <a:latin typeface="Segoe UI"/>
              </a:rPr>
              <a:t>AI Signal Desk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2179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Buy/Sell engine - top conviction calls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Microsoft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566160" y="109728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STRONG BUY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212080" y="109728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95%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9360" y="1097280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bullish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527048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Solana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66160" y="1527048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STRONG BUY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212080" y="1527048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95%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9360" y="1527048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bullish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1956815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US Technology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6160" y="1956815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STRONG BUY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212080" y="1956815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95%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09360" y="1956815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bullish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2386584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Bitcoin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66160" y="2386584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STRONG BUY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212080" y="2386584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95%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60" y="2386584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bullish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2816352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Nasdaq 100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66160" y="281635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STRONG BUY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12080" y="2816352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95%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09360" y="2816352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bullish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3246120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Nvidia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566160" y="324612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STRONG BUY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212080" y="324612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95%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09360" y="3246120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bullish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3675887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Ethereum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566160" y="3675887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STRONG BUY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212080" y="3675887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83%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09360" y="3675887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bearish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" y="4105656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S&amp;P 500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566160" y="4105656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STRONG BUY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212080" y="4105656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82%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09360" y="4105656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bullish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7200" y="4535424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Copper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566160" y="4535424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STRONG BUY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212080" y="4535424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94%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309360" y="4535424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bullish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57200" y="4965192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Apple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66160" y="496519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STRONG BUY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212080" y="4965192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81%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309360" y="4965192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bullish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7200" y="5394959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Straits Times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566160" y="5394959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STRONG BUY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80" y="5394959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81%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309360" y="5394959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bullish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57200" y="5824728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Natural Gas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566160" y="5824728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BUY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212080" y="5824728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68%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309360" y="5824728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death cross (50&lt;200) · MACD bullish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64592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22D3EE"/>
                </a:solidFill>
                <a:latin typeface="Segoe UI"/>
              </a:rPr>
              <a:t>Portfolio P&amp;L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2179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Base currency INR · USD/INR 95.8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7C8DB5"/>
                </a:solidFill>
                <a:latin typeface="Segoe UI"/>
              </a:rPr>
              <a:t>Symbol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37744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7C8DB5"/>
                </a:solidFill>
                <a:latin typeface="Segoe UI"/>
              </a:rPr>
              <a:t>Qty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9184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7C8DB5"/>
                </a:solidFill>
                <a:latin typeface="Segoe UI"/>
              </a:rPr>
              <a:t>Avg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7C8DB5"/>
                </a:solidFill>
                <a:latin typeface="Segoe UI"/>
              </a:rPr>
              <a:t>Last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9496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7C8DB5"/>
                </a:solidFill>
                <a:latin typeface="Segoe UI"/>
              </a:rPr>
              <a:t>Value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4944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7C8DB5"/>
                </a:solidFill>
                <a:latin typeface="Segoe UI"/>
              </a:rPr>
              <a:t>P&amp;L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7C8DB5"/>
                </a:solidFill>
                <a:latin typeface="Segoe UI"/>
              </a:rPr>
              <a:t>P&amp;L 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9264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7C8DB5"/>
                </a:solidFill>
                <a:latin typeface="Segoe UI"/>
              </a:rPr>
              <a:t>Day 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13716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7E1F3"/>
                </a:solidFill>
                <a:latin typeface="Segoe UI"/>
              </a:rPr>
              <a:t>BTC-USD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377440" y="13716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0.1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91840" y="13716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60,000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97680" y="13716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84,100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94960" y="13716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Rs 805,693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49440" y="13716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Rs 230,881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03920" y="13716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+40.2%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92640" y="13716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-0.4%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17190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7E1F3"/>
                </a:solidFill>
                <a:latin typeface="Segoe UI"/>
              </a:rPr>
              <a:t>GC=F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77440" y="17190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291840" y="17190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2,300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97680" y="17190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4,257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394960" y="17190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Rs 407,800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49440" y="17190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Rs 187,456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03920" y="17190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+85.1%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692640" y="17190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+0.0%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2066543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7E1F3"/>
                </a:solidFill>
                <a:latin typeface="Segoe UI"/>
              </a:rPr>
              <a:t>AAPL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40" y="2066543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10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91840" y="2066543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185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80" y="2066543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341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394960" y="2066543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Rs 326,752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949440" y="2066543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Rs 149,518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503920" y="2066543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+84.4%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92640" y="2066543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+0.0%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7200" y="24140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7E1F3"/>
                </a:solidFill>
                <a:latin typeface="Segoe UI"/>
              </a:rPr>
              <a:t>NVDA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377440" y="24140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8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291840" y="24140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450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297680" y="24140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225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394960" y="24140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Rs 172,497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949440" y="24140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Rs -172,390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503920" y="24140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-50.0%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692640" y="24140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+0.0%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7200" y="27614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7E1F3"/>
                </a:solidFill>
                <a:latin typeface="Segoe UI"/>
              </a:rPr>
              <a:t>INFY.NS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377440" y="27614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80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291840" y="27614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1,400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297680" y="27614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1,000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394960" y="27614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Rs 80,016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949440" y="27614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Rs -31,984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503920" y="27614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-28.6%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692640" y="27614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+0.0%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57200" y="31089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7E1F3"/>
                </a:solidFill>
                <a:latin typeface="Segoe UI"/>
              </a:rPr>
              <a:t>RELIANCE.NS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2377440" y="31089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50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291840" y="31089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2,450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297680" y="31089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1,226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394960" y="31089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Rs 61,300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949440" y="31089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Rs -61,200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503920" y="31089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-50.0%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692640" y="31089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+0.0%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57200" y="34564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7E1F3"/>
                </a:solidFill>
                <a:latin typeface="Segoe UI"/>
              </a:rPr>
              <a:t>TCS.NS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2377440" y="34564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25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3291840" y="34564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3,600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297680" y="34564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2,082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394960" y="34564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Rs 52,050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949440" y="34564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Rs -37,950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503920" y="34564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-42.2%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692640" y="34564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+0.0%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57200" y="3803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7E1F3"/>
                </a:solidFill>
                <a:latin typeface="Segoe UI"/>
              </a:rPr>
              <a:t>HDFCBANK.NS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2377440" y="3803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60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3291840" y="3803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1,520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4297680" y="3803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736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5394960" y="3803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Rs 44,136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6949440" y="3803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Rs -47,064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503920" y="3803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-51.6%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9692640" y="3803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+0.0%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57200" y="640080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22D3EE"/>
                </a:solidFill>
                <a:latin typeface="Segoe UI"/>
              </a:rPr>
              <a:t>Total Rs 1,950,245 | P&amp;L Rs 217,267 (+12.5%) | Sharpe 0.1 | Vol 20.34% | VaR95 -1.93%/day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